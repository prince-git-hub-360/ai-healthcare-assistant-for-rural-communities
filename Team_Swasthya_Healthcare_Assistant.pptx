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4114800" cy="411480"/>
          </a:xfrm>
          <a:prstGeom prst="roundRect">
            <a:avLst/>
          </a:prstGeom>
          <a:solidFill>
            <a:srgbClr val="0D9488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AI IN HEALTHCARE &amp; RURAL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AI-Powered Healthcare Communication Assistant</a:t>
            </a:r>
            <a:br/>
            <a:r>
              <a:t>for Rural Communities</a:t>
            </a:r>
          </a:p>
          <a:p>
            <a:pPr>
              <a:spcBef>
                <a:spcPts val="1200"/>
              </a:spcBef>
              <a:defRPr sz="1800">
                <a:solidFill>
                  <a:srgbClr val="06B6D4"/>
                </a:solidFill>
              </a:defRPr>
            </a:pPr>
            <a:r>
              <a:t>Swasthya: Multilingual Voice Triage, OCR Prescription Simplification &amp; Caregiver Alert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320040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6B6D4"/>
                </a:solidFill>
              </a:defRPr>
            </a:pPr>
            <a:r>
              <a:t>👥 Project Team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• Project Lead &amp; Full Stack Dev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• AI / NLP &amp; Speech Pipeline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• UX Research &amp; Rural Healthcare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3931920"/>
            <a:ext cx="320040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6B6D4"/>
                </a:solidFill>
              </a:defRPr>
            </a:pPr>
            <a:r>
              <a:t>🎯 Theme &amp; Focus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• Focus: Rural Health Inclusion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• UN SDG: SDG 3 &amp; SDG 10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• Target: Zero-Literacy Voice 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931920"/>
            <a:ext cx="320040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6B6D4"/>
                </a:solidFill>
              </a:defRPr>
            </a:pPr>
            <a:r>
              <a:t>📬 Contact &amp; Project Info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• Codebase: GitHub Repository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• Tech: Django DRF + React 19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</a:defRPr>
            </a:pPr>
            <a:r>
              <a:t>• Status: Fully Functional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SLIDE 02 |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Problem &amp; Opportunity: The Rural Healthcare Divide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E11D48"/>
                </a:solidFill>
              </a:defRPr>
            </a:pPr>
            <a:r>
              <a:t>1 : 11,000+</a:t>
            </a:r>
          </a:p>
          <a:p>
            <a:pPr>
              <a:spcBef>
                <a:spcPts val="400"/>
              </a:spcBef>
              <a:defRPr b="1" sz="1400">
                <a:solidFill>
                  <a:srgbClr val="0F172A"/>
                </a:solidFill>
              </a:defRPr>
            </a:pPr>
            <a:r>
              <a:t>Doctor-to-Patient Ratio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Rural Primary Health Centres (PHCs) face acute physician shortages vs. WHO 1:1000 standard.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D97706"/>
                </a:solidFill>
              </a:defRPr>
            </a:pPr>
            <a:r>
              <a:t>68% Population</a:t>
            </a:r>
          </a:p>
          <a:p>
            <a:pPr>
              <a:spcBef>
                <a:spcPts val="400"/>
              </a:spcBef>
              <a:defRPr b="1" sz="1400">
                <a:solidFill>
                  <a:srgbClr val="0F172A"/>
                </a:solidFill>
              </a:defRPr>
            </a:pPr>
            <a:r>
              <a:t>Language &amp; Literacy Barrier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Over 68% of rural patients struggle with written English prescriptions and medical jargon.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800">
                <a:solidFill>
                  <a:srgbClr val="E11D48"/>
                </a:solidFill>
              </a:defRPr>
            </a:pPr>
            <a:r>
              <a:t>50%+ Non-Adherence</a:t>
            </a:r>
          </a:p>
          <a:p>
            <a:pPr>
              <a:spcBef>
                <a:spcPts val="400"/>
              </a:spcBef>
              <a:defRPr b="1" sz="1400">
                <a:solidFill>
                  <a:srgbClr val="0F172A"/>
                </a:solidFill>
              </a:defRPr>
            </a:pPr>
            <a:r>
              <a:t>Medication Errors &amp; Delays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Patients frequently miss dosages or take incorrect medication due to lack of accessible guidance.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D9488"/>
                </a:solidFill>
              </a:defRPr>
            </a:pPr>
            <a:r>
              <a:t>🌟 The Transformative Opportunity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Empower Frontline Workers: Supercharge 1M+ ASHA / ANM workers with automated voice triage and digital patient logs.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Zero-Literacy Access: Convert complex medical prescriptions into 12+ native Indian spoken languages via Speech AI.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Reduce Hospital Overcrowding: Prioritize critical patients early and resolve routine questions at the village level.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• Bridge the Care Gap: Connect families, local health workers, and urban doctors in one unified, offline-resilient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SLIDE 03 | MARKET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Existing Solutions &amp; Gap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172A"/>
                </a:solidFill>
              </a:defRPr>
            </a:pPr>
            <a:r>
              <a:t>📱 Urban Telemedicine Apps</a:t>
            </a:r>
            <a:br/>
            <a:r>
              <a:t>(Practo, Apollo, 1mg)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❌ Text &amp; English heavy interfaces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❌ Requires high digital literacy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❌ Needs fast 4G/5G broadband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❌ No integration with ASHA workers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❌ Costly for rural families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172A"/>
                </a:solidFill>
              </a:defRPr>
            </a:pPr>
            <a:r>
              <a:t>🤖 Generic AI Chatbots</a:t>
            </a:r>
            <a:br/>
            <a:r>
              <a:t>(ChatGPT, WhatsApp Bots)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❌ Prone to clinical hallucinations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❌ Lack of regional dialect nuance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❌ No OCR prescription parser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❌ No caregiver alerting or SOS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❌ Unstructured doctor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D9488"/>
                </a:solidFill>
              </a:defRPr>
            </a:pPr>
            <a:r>
              <a:t>✅ Swasthya Healthcare Assistant</a:t>
            </a:r>
            <a:br/>
            <a:r>
              <a:t>(Our Breakthrough Solution)</a:t>
            </a:r>
          </a:p>
          <a:p>
            <a:pPr>
              <a:spcBef>
                <a:spcPts val="1200"/>
              </a:spcBef>
              <a:defRPr sz="1200" b="1">
                <a:solidFill>
                  <a:srgbClr val="0D9488"/>
                </a:solidFill>
              </a:defRPr>
            </a:pPr>
            <a:r>
              <a:t>✔ 100% Voice-First in 12+ Indian languages</a:t>
            </a:r>
          </a:p>
          <a:p>
            <a:pPr>
              <a:spcBef>
                <a:spcPts val="1200"/>
              </a:spcBef>
              <a:defRPr sz="1200" b="1">
                <a:solidFill>
                  <a:srgbClr val="0D9488"/>
                </a:solidFill>
              </a:defRPr>
            </a:pPr>
            <a:r>
              <a:t>✔ OCR Prescription Scanning &amp; Simplification</a:t>
            </a:r>
          </a:p>
          <a:p>
            <a:pPr>
              <a:spcBef>
                <a:spcPts val="1200"/>
              </a:spcBef>
              <a:defRPr sz="1200" b="1">
                <a:solidFill>
                  <a:srgbClr val="0D9488"/>
                </a:solidFill>
              </a:defRPr>
            </a:pPr>
            <a:r>
              <a:t>✔ Visual 5-Day Pillbox for zero-literacy</a:t>
            </a:r>
          </a:p>
          <a:p>
            <a:pPr>
              <a:spcBef>
                <a:spcPts val="1200"/>
              </a:spcBef>
              <a:defRPr sz="1200" b="1">
                <a:solidFill>
                  <a:srgbClr val="0D9488"/>
                </a:solidFill>
              </a:defRPr>
            </a:pPr>
            <a:r>
              <a:t>✔ Integrated ASHA &amp; Doctor Portals</a:t>
            </a:r>
          </a:p>
          <a:p>
            <a:pPr>
              <a:spcBef>
                <a:spcPts val="1200"/>
              </a:spcBef>
              <a:defRPr sz="1200" b="1">
                <a:solidFill>
                  <a:srgbClr val="0D9488"/>
                </a:solidFill>
              </a:defRPr>
            </a:pPr>
            <a:r>
              <a:t>✔ Automated Caregiver Missed-Dose SOS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SLIDE 04 | CORE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Our Solution: Swasthya Healthcare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146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D9488"/>
                </a:solidFill>
              </a:defRPr>
            </a:pPr>
            <a:r>
              <a:t>1. Voice / OCR Input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Patient speaks symptoms in native language or uploads handwritten prescription scan.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463040"/>
            <a:ext cx="25146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6B6D4"/>
                </a:solidFill>
              </a:defRPr>
            </a:pPr>
            <a:r>
              <a:t>2. AI Clinical Triage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AI parses medical terms, categorizes severity, and translates to standard clinical format.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25146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D9488"/>
                </a:solidFill>
              </a:defRPr>
            </a:pPr>
            <a:r>
              <a:t>3. Doctor &amp; ASHA Review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Doctors review structured clinical summary; ASHA workers track village patient rounds.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463040"/>
            <a:ext cx="25146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0B981"/>
                </a:solidFill>
              </a:defRPr>
            </a:pPr>
            <a:r>
              <a:t>4. Spoken &amp; Visual Care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Patient receives voice dosage guidance in 12+ dialects and interactive visual pillbox.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645920"/>
          </a:xfrm>
          <a:prstGeom prst="roundRect">
            <a:avLst/>
          </a:prstGeom>
          <a:solidFill>
            <a:srgbClr val="182B4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6B6D4"/>
                </a:solidFill>
              </a:defRPr>
            </a:pPr>
            <a:r>
              <a:t>🚀 Key Value Propositions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• Zero Literacy Barrier: Spoken vernacular instructions eliminate reading requirements.</a:t>
            </a:r>
            <a:br/>
            <a:r>
              <a:t>• Clinical Safety: Triage severity flags prevent misdiagnoses and highlight emergencies.</a:t>
            </a:r>
            <a:br/>
            <a:r>
              <a:t>• Caregiver Circle: Automated SMS/alerts ensure vulnerable elderly patients never miss life-saving doses.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SLIDE 05 | ARCHITECTURE &amp;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Technology Stack &amp; Technical Innovation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172A"/>
                </a:solidFill>
              </a:defRPr>
            </a:pPr>
            <a:r>
              <a:t>💻 Frontend Client</a:t>
            </a:r>
          </a:p>
          <a:p>
            <a:pPr>
              <a:spcBef>
                <a:spcPts val="200"/>
              </a:spcBef>
              <a:defRPr b="1" sz="1200">
                <a:solidFill>
                  <a:srgbClr val="0D9488"/>
                </a:solidFill>
              </a:defRPr>
            </a:pPr>
            <a:r>
              <a:t>React 19.2 + Vite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</a:defRPr>
            </a:pPr>
            <a:r>
              <a:t>• Voice Synthesis &amp; Web Speech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</a:defRPr>
            </a:pPr>
            <a:r>
              <a:t>• Tailwind CSS Accessible UI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</a:defRPr>
            </a:pPr>
            <a:r>
              <a:t>• Role-Based Dynamic Dashboards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</a:defRPr>
            </a:pPr>
            <a:r>
              <a:t>• Offline PWA Caching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172A"/>
                </a:solidFill>
              </a:defRPr>
            </a:pPr>
            <a:r>
              <a:t>⚙️ Enterprise Backend</a:t>
            </a:r>
          </a:p>
          <a:p>
            <a:pPr>
              <a:spcBef>
                <a:spcPts val="200"/>
              </a:spcBef>
              <a:defRPr b="1" sz="1200">
                <a:solidFill>
                  <a:srgbClr val="0D9488"/>
                </a:solidFill>
              </a:defRPr>
            </a:pPr>
            <a:r>
              <a:t>Django 5.2 + DRF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</a:defRPr>
            </a:pPr>
            <a:r>
              <a:t>• Domain-Driven Modularity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</a:defRPr>
            </a:pPr>
            <a:r>
              <a:t>• SimpleJWT Token Auth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</a:defRPr>
            </a:pPr>
            <a:r>
              <a:t>• PostgreSQL Relational Store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</a:defRPr>
            </a:pPr>
            <a:r>
              <a:t>• RESTful Gateway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172A"/>
                </a:solidFill>
              </a:defRPr>
            </a:pPr>
            <a:r>
              <a:t>🧠 AI &amp; Speech Engine</a:t>
            </a:r>
          </a:p>
          <a:p>
            <a:pPr>
              <a:spcBef>
                <a:spcPts val="200"/>
              </a:spcBef>
              <a:defRPr b="1" sz="1200">
                <a:solidFill>
                  <a:srgbClr val="0D9488"/>
                </a:solidFill>
              </a:defRPr>
            </a:pPr>
            <a:r>
              <a:t>Multimodal NLP &amp; OCR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</a:defRPr>
            </a:pPr>
            <a:r>
              <a:t>• Tesseract OCR Vision Engine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</a:defRPr>
            </a:pPr>
            <a:r>
              <a:t>• gTTS &amp; Indic Speech Engine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</a:defRPr>
            </a:pPr>
            <a:r>
              <a:t>• Multi-dialect Clinical Translation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</a:defRPr>
            </a:pPr>
            <a:r>
              <a:t>• Automated Drug Schedule Parser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0F172A"/>
                </a:solidFill>
              </a:defRPr>
            </a:pPr>
            <a:r>
              <a:t>🛡️ Security &amp; Health ID</a:t>
            </a:r>
          </a:p>
          <a:p>
            <a:pPr>
              <a:spcBef>
                <a:spcPts val="200"/>
              </a:spcBef>
              <a:defRPr b="1" sz="1200">
                <a:solidFill>
                  <a:srgbClr val="0D9488"/>
                </a:solidFill>
              </a:defRPr>
            </a:pPr>
            <a:r>
              <a:t>ABHA &amp; Care Engine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</a:defRPr>
            </a:pPr>
            <a:r>
              <a:t>• Digital Health Card with QR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</a:defRPr>
            </a:pPr>
            <a:r>
              <a:t>• Caregiver Notification Broker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</a:defRPr>
            </a:pPr>
            <a:r>
              <a:t>• Audit-Compliant Medical Vault</a:t>
            </a:r>
          </a:p>
          <a:p>
            <a:pPr>
              <a:spcBef>
                <a:spcPts val="300"/>
              </a:spcBef>
              <a:defRPr sz="1150">
                <a:solidFill>
                  <a:srgbClr val="1E293B"/>
                </a:solidFill>
              </a:defRPr>
            </a:pPr>
            <a:r>
              <a:t>• Low-bandwidth Optimization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SLIDE 06 | WORKING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Prototype &amp; Live Demonstration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172A"/>
                </a:solidFill>
              </a:defRPr>
            </a:pPr>
            <a:r>
              <a:t>🎙️ Module 1: Voice Consultation</a:t>
            </a:r>
          </a:p>
          <a:p>
            <a:pPr>
              <a:spcBef>
                <a:spcPts val="400"/>
              </a:spcBef>
              <a:defRPr b="1" sz="1200">
                <a:solidFill>
                  <a:srgbClr val="0D9488"/>
                </a:solidFill>
              </a:defRPr>
            </a:pPr>
            <a:r>
              <a:t>Multilingual Patient Interaction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Patient speaks in Hindi/Tamil/Bengali: '3 din se tez bukhar hai'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Real-time speech-to-text &amp; translation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AI clarifies duration, severity &amp; red-flag symptoms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Generates dual-output: Doctor summary + Patient guidance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172A"/>
                </a:solidFill>
              </a:defRPr>
            </a:pPr>
            <a:r>
              <a:t>📄 Module 2: OCR Prescription Scan</a:t>
            </a:r>
          </a:p>
          <a:p>
            <a:pPr>
              <a:spcBef>
                <a:spcPts val="400"/>
              </a:spcBef>
              <a:defRPr b="1" sz="1200">
                <a:solidFill>
                  <a:srgbClr val="0D9488"/>
                </a:solidFill>
              </a:defRPr>
            </a:pPr>
            <a:r>
              <a:t>Handwriting to Visual Schedule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Upload photo of handwritten doctor prescription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PyTesseract extracts drug names (Paracetamol 500mg, Amoxicillin)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Automatic dosage schedule created (Morning / Night after food)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Generates audio explanation in patient's regional language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172A"/>
                </a:solidFill>
              </a:defRPr>
            </a:pPr>
            <a:r>
              <a:t>📅 Module 3: 5-Day Visual Pillbox &amp; SOS</a:t>
            </a:r>
          </a:p>
          <a:p>
            <a:pPr>
              <a:spcBef>
                <a:spcPts val="400"/>
              </a:spcBef>
              <a:defRPr b="1" sz="1200">
                <a:solidFill>
                  <a:srgbClr val="0D9488"/>
                </a:solidFill>
              </a:defRPr>
            </a:pPr>
            <a:r>
              <a:t>Adherence &amp; Emergency Circle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Color-coded interactive visual pill calendar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Spoken dose reminders &amp; audio notifications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One-click Emergency SOS to nearest PHC &amp; Caregiver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• Scannable ABHA Digital Health Card QR profile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SLIDE 07 | STAKEHOLDERS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Target Users &amp; Real-World Use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172A"/>
                </a:solidFill>
              </a:defRPr>
            </a:pPr>
            <a:r>
              <a:t>👴 Rural Patients &amp; Elderly</a:t>
            </a:r>
          </a:p>
          <a:p>
            <a:pPr>
              <a:spcBef>
                <a:spcPts val="200"/>
              </a:spcBef>
              <a:defRPr b="1" sz="1150">
                <a:solidFill>
                  <a:srgbClr val="0D9488"/>
                </a:solidFill>
              </a:defRPr>
            </a:pPr>
            <a:r>
              <a:t>Estimated: 600M+ Individuals in India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Persona: Low literacy, regional dialect speaker.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Use Case: Understand prescription dosage, voice triage for seasonal illness.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Benefit: 100% voice clarity without traveling 20km to nearest town.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172A"/>
                </a:solidFill>
              </a:defRPr>
            </a:pPr>
            <a:r>
              <a:t>👩‍⚕️ ASHA &amp; Frontline Workers</a:t>
            </a:r>
          </a:p>
          <a:p>
            <a:pPr>
              <a:spcBef>
                <a:spcPts val="200"/>
              </a:spcBef>
              <a:defRPr b="1" sz="1150">
                <a:solidFill>
                  <a:srgbClr val="0D9488"/>
                </a:solidFill>
              </a:defRPr>
            </a:pPr>
            <a:r>
              <a:t>Estimated: 1M+ Health Workers in India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Persona: Community health champion conducting village rounds.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Use Case: Record patient vitals, verify drug supplies, escalate acute cases.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Benefit: 50% faster field documentation, real-time doctor linkage.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172A"/>
                </a:solidFill>
              </a:defRPr>
            </a:pPr>
            <a:r>
              <a:t>👨‍⚕️ PHC Doctors &amp; Tele-Clinicians</a:t>
            </a:r>
          </a:p>
          <a:p>
            <a:pPr>
              <a:spcBef>
                <a:spcPts val="200"/>
              </a:spcBef>
              <a:defRPr b="1" sz="1150">
                <a:solidFill>
                  <a:srgbClr val="0D9488"/>
                </a:solidFill>
              </a:defRPr>
            </a:pPr>
            <a:r>
              <a:t>Estimated: 50,000+ Rural &amp; District Clinics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Persona: Overburdened medical officer handling 100+ OPD patients/day.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Use Case: Instant structured clinical summary before consultation.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Benefit: Saves 3-5 mins per patient, eliminates language misunderstanding.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172A"/>
                </a:solidFill>
              </a:defRPr>
            </a:pPr>
            <a:r>
              <a:t>👨‍👩‍👧 Family Caregivers</a:t>
            </a:r>
          </a:p>
          <a:p>
            <a:pPr>
              <a:spcBef>
                <a:spcPts val="200"/>
              </a:spcBef>
              <a:defRPr b="1" sz="1150">
                <a:solidFill>
                  <a:srgbClr val="0D9488"/>
                </a:solidFill>
              </a:defRPr>
            </a:pPr>
            <a:r>
              <a:t>Estimated: 200M+ Rural Households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Persona: Working children/relatives managing parents' health remotely.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Use Case: Real-time adherence logs, missed-dose SMS alerts, SOS triggers.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Benefit: Peace of mind, early emergency intervention.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SLIDE 08 | QUANTIFIED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Measurable Impact &amp; Social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600">
                <a:solidFill>
                  <a:srgbClr val="0D9488"/>
                </a:solidFill>
              </a:defRPr>
            </a:pPr>
            <a:r>
              <a:t>60% Reduction</a:t>
            </a:r>
          </a:p>
          <a:p>
            <a:pPr>
              <a:spcBef>
                <a:spcPts val="400"/>
              </a:spcBef>
              <a:defRPr b="1" sz="1300">
                <a:solidFill>
                  <a:srgbClr val="0F172A"/>
                </a:solidFill>
              </a:defRPr>
            </a:pPr>
            <a:r>
              <a:t>In Patient Consultation Triage Time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Structured AI summaries allow doctors to diagnose faster with full context.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600">
                <a:solidFill>
                  <a:srgbClr val="10B981"/>
                </a:solidFill>
              </a:defRPr>
            </a:pPr>
            <a:r>
              <a:t>85%+ Increase</a:t>
            </a:r>
          </a:p>
          <a:p>
            <a:pPr>
              <a:spcBef>
                <a:spcPts val="400"/>
              </a:spcBef>
              <a:defRPr b="1" sz="1300">
                <a:solidFill>
                  <a:srgbClr val="0F172A"/>
                </a:solidFill>
              </a:defRPr>
            </a:pPr>
            <a:r>
              <a:t>In Medication Adherence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Visual pillbox and regional voice audio prevent missed and incorrect doses.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600">
                <a:solidFill>
                  <a:srgbClr val="D97706"/>
                </a:solidFill>
              </a:defRPr>
            </a:pPr>
            <a:r>
              <a:t>₹1,200+ Saved</a:t>
            </a:r>
          </a:p>
          <a:p>
            <a:pPr>
              <a:spcBef>
                <a:spcPts val="400"/>
              </a:spcBef>
              <a:defRPr b="1" sz="1300">
                <a:solidFill>
                  <a:srgbClr val="0F172A"/>
                </a:solidFill>
              </a:defRPr>
            </a:pPr>
            <a:r>
              <a:t>Per Family / Medical Episode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Reduces unnecessary travel costs and lost daily wages for minor ailments.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D9488"/>
                </a:solidFill>
              </a:defRPr>
            </a:pPr>
            <a:r>
              <a:t>🌍 Alignment with United Nations Sustainable Development Goals (SDGs)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SDG 3 (Good Health &amp; Well-Being): Enhances rural disease surveillance, maternal health tracking, and timely emergency response.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SDG 10 (Reduced Inequalities): Eliminates linguistic, educational, and geographical barriers to quality healthcare access.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SDG 9 (Industry, Innovation &amp; Infrastructure): Deploys resilient AI and edge-ready digital public goods to underserved regions.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Environmental &amp; Efficiency Gains: Reduces carbon footprint from non-essential patient travel to distant district hospitals.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SLIDE 09 | ROLLOUT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Business Model &amp; Implementation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F172A"/>
                </a:solidFill>
              </a:defRPr>
            </a:pPr>
            <a:r>
              <a:t>💼 Sustainability &amp; Partnership Model</a:t>
            </a:r>
          </a:p>
          <a:p>
            <a:pPr>
              <a:spcBef>
                <a:spcPts val="800"/>
              </a:spcBef>
              <a:defRPr b="1" sz="1200">
                <a:solidFill>
                  <a:srgbClr val="0D9488"/>
                </a:solidFill>
              </a:defRPr>
            </a:pPr>
            <a:r>
              <a:t>🏛️ B2G (Govt NHM &amp; State Health):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Integration with National Health Mission (NHM), Ayushman Bharat Digital Mission (ABDM), and eSanjeevani.</a:t>
            </a:r>
          </a:p>
          <a:p>
            <a:pPr>
              <a:spcBef>
                <a:spcPts val="800"/>
              </a:spcBef>
              <a:defRPr b="1" sz="1200">
                <a:solidFill>
                  <a:srgbClr val="0D9488"/>
                </a:solidFill>
              </a:defRPr>
            </a:pPr>
            <a:r>
              <a:t>🤝 CSR &amp; NGO Partnerships: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Funded rollout via Corporate Social Responsibility healthcare foundations &amp; rural development trusts.</a:t>
            </a:r>
          </a:p>
          <a:p>
            <a:pPr>
              <a:spcBef>
                <a:spcPts val="800"/>
              </a:spcBef>
              <a:defRPr b="1" sz="1200">
                <a:solidFill>
                  <a:srgbClr val="0D9488"/>
                </a:solidFill>
              </a:defRPr>
            </a:pPr>
            <a:r>
              <a:t>🏥 Hospital / PHC SaaS Subscriptions: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Premium analytics dashboard for district hospitals tracking village epidemiology trends.</a:t>
            </a:r>
          </a:p>
          <a:p>
            <a:pPr>
              <a:spcBef>
                <a:spcPts val="800"/>
              </a:spcBef>
              <a:defRPr b="1" sz="1200">
                <a:solidFill>
                  <a:srgbClr val="0D9488"/>
                </a:solidFill>
              </a:defRPr>
            </a:pPr>
            <a:r>
              <a:t>🆓 Free Tier for Rural Patients: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100% free access for patients and ASHA workers to ensure equitable adoption.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D9488"/>
                </a:solidFill>
              </a:defRPr>
            </a:pPr>
            <a:r>
              <a:t>🗺️ 4-Phase Implementation Roadmap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Phase 1 (Months 1-3) | Pilot Validation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Deploy MVP in 10 PHCs across 2 rural districts with 50 ASHA workers.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Phase 2 (Months 4-6) | ABDM &amp; Regional Expansion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Integrate ABHA Health ID &amp; expand to 15+ Indian regional dialects.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Phase 3 (Months 7-12) | Tele-Clinics &amp; Offline Edge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Implement offline-first local edge LLM models for zero-connectivity zones.</a:t>
            </a:r>
          </a:p>
          <a:p>
            <a:pPr>
              <a:spcBef>
                <a:spcPts val="800"/>
              </a:spcBef>
              <a:defRPr b="1" sz="1200">
                <a:solidFill>
                  <a:srgbClr val="0F172A"/>
                </a:solidFill>
              </a:defRPr>
            </a:pPr>
            <a:r>
              <a:t>Phase 4 (Year 2+) | Pan-India &amp; Global South Scale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Scale to 1,000+ PHCs across 5 states; adapt for Southeast Asia &amp; Africa.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SLIDE 10 | ENGINEERING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Technical Feasibility &amp; Scalability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172A"/>
                </a:solidFill>
              </a:defRPr>
            </a:pPr>
            <a:r>
              <a:t>⚡ Technical Feasibility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• Built on production-ready Django 5.2 &amp; React 19.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• Uses standard Web Speech &amp; REST APIs compatible with $50 entry-level smartphones.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• Low-latency JSON payloads (&lt; 200ms API response).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172A"/>
                </a:solidFill>
              </a:defRPr>
            </a:pPr>
            <a:r>
              <a:t>🌐 Scalability &amp; Cloud Elasticity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• Stateless Dockerized microservices ready for Kubernetes auto-scaling.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• PostgreSQL database with indexing for 1M+ patient health records.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• CDN edge caching for audio prescription assets.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172A"/>
                </a:solidFill>
              </a:defRPr>
            </a:pPr>
            <a:r>
              <a:t>🛡️ Risk Mitigation &amp; Data Privacy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• End-to-end encrypted medical vaults (AES-256 / TLS 1.3).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• Strict human-in-the-loop doctor validation for critical triage.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• DISHA / HIPAA compliance guidelines followed.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0F172A"/>
                </a:solidFill>
              </a:defRPr>
            </a:pPr>
            <a:r>
              <a:t>📡 Low-Bandwidth Resilience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• Progressive Web App (PWA) caching for offline usage.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• Compressed audio payloads (&lt; 50KB per speech clip).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• Automatic sync queue when network reconnects.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SLIDE 11 | MARKET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Competitive Advantage &amp; USP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2286000"/>
                <a:gridCol w="2286000"/>
                <a:gridCol w="274320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Key Feature / Capability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Generic Chatbots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Commercial Tele-Apps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⭐ Swasthya Assistant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</a:defRPr>
                      </a:pPr>
                      <a:r>
                        <a:t>100% Voice-First Interaction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64748B"/>
                          </a:solidFill>
                        </a:defRPr>
                      </a:pPr>
                      <a:r>
                        <a:t>❌ Text Dependent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64748B"/>
                          </a:solidFill>
                        </a:defRPr>
                      </a:pPr>
                      <a:r>
                        <a:t>❌ Complex UI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D9488"/>
                          </a:solidFill>
                        </a:defRPr>
                      </a:pPr>
                      <a:r>
                        <a:t>✅ Native Spoken Voice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</a:defRPr>
                      </a:pPr>
                      <a:r>
                        <a:t>12+ Indian Regional Dialects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64748B"/>
                          </a:solidFill>
                        </a:defRPr>
                      </a:pPr>
                      <a:r>
                        <a:t>⚠️ Partial / English bias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64748B"/>
                          </a:solidFill>
                        </a:defRPr>
                      </a:pPr>
                      <a:r>
                        <a:t>❌ English / Hindi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D9488"/>
                          </a:solidFill>
                        </a:defRPr>
                      </a:pPr>
                      <a:r>
                        <a:t>✅ Deep Indic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</a:defRPr>
                      </a:pPr>
                      <a:r>
                        <a:t>OCR Prescription Parsing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64748B"/>
                          </a:solidFill>
                        </a:defRPr>
                      </a:pPr>
                      <a:r>
                        <a:t>❌ Not Available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64748B"/>
                          </a:solidFill>
                        </a:defRPr>
                      </a:pPr>
                      <a:r>
                        <a:t>⚠️ Manual Typing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D9488"/>
                          </a:solidFill>
                        </a:defRPr>
                      </a:pPr>
                      <a:r>
                        <a:t>✅ Automated Drug Parser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</a:defRPr>
                      </a:pPr>
                      <a:r>
                        <a:t>Visual 5-Day Pillbox for Low Literacy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64748B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64748B"/>
                          </a:solidFill>
                        </a:defRPr>
                      </a:pPr>
                      <a:r>
                        <a:t>❌ Text Timers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D9488"/>
                          </a:solidFill>
                        </a:defRPr>
                      </a:pPr>
                      <a:r>
                        <a:t>✅ Color &amp; Icon Coded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F172A"/>
                          </a:solidFill>
                        </a:defRPr>
                      </a:pPr>
                      <a:r>
                        <a:t>Integrated ASHA &amp; Caregiver Circle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64748B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64748B"/>
                          </a:solidFill>
                        </a:defRPr>
                      </a:pPr>
                      <a:r>
                        <a:t>❌ Doctor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D9488"/>
                          </a:solidFill>
                        </a:defRPr>
                      </a:pPr>
                      <a:r>
                        <a:t>✅ Unified Triad Portal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303520"/>
            <a:ext cx="10698480" cy="1097280"/>
          </a:xfrm>
          <a:prstGeom prst="roundRect">
            <a:avLst/>
          </a:prstGeom>
          <a:solidFill>
            <a:srgbClr val="CCFBF1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D9488"/>
                </a:solidFill>
              </a:defRPr>
            </a:pPr>
            <a:r>
              <a:t>💡 Core USP: The Only Voice-First, Dual-Sided Healthcare Bridge Designed for Rural India's Realities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Combines AI voice triage with OCR prescription decoding and caregiver emergency escalations in a lightweight PWA.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548640"/>
            <a:ext cx="3200400" cy="365760"/>
          </a:xfrm>
          <a:prstGeom prst="roundRect">
            <a:avLst/>
          </a:prstGeom>
          <a:solidFill>
            <a:srgbClr val="0D9488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SLIDE 12 | TEAM &amp; 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Our Team, Mentorship &amp; Future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493776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6B6D4"/>
                </a:solidFill>
              </a:defRPr>
            </a:pPr>
            <a:r>
              <a:t>👥 Project Team &amp; Contributions</a:t>
            </a:r>
          </a:p>
          <a:p>
            <a:pPr>
              <a:spcBef>
                <a:spcPts val="800"/>
              </a:spcBef>
              <a:defRPr b="1" sz="1200">
                <a:solidFill>
                  <a:srgbClr val="FFFFFF"/>
                </a:solidFill>
              </a:defRPr>
            </a:pPr>
            <a:r>
              <a:t>• Project Lead &amp; Full Stack Architect</a:t>
            </a:r>
          </a:p>
          <a:p>
            <a:pPr>
              <a:defRPr sz="1100">
                <a:solidFill>
                  <a:srgbClr val="CCFBF1"/>
                </a:solidFill>
              </a:defRPr>
            </a:pPr>
            <a:r>
              <a:t>System design, Django REST API, React UI &amp; Database architecture.</a:t>
            </a:r>
          </a:p>
          <a:p>
            <a:pPr>
              <a:spcBef>
                <a:spcPts val="800"/>
              </a:spcBef>
              <a:defRPr b="1" sz="1200">
                <a:solidFill>
                  <a:srgbClr val="FFFFFF"/>
                </a:solidFill>
              </a:defRPr>
            </a:pPr>
            <a:r>
              <a:t>• AI &amp; Voice Pipeline Engineer</a:t>
            </a:r>
          </a:p>
          <a:p>
            <a:pPr>
              <a:defRPr sz="1100">
                <a:solidFill>
                  <a:srgbClr val="CCFBF1"/>
                </a:solidFill>
              </a:defRPr>
            </a:pPr>
            <a:r>
              <a:t>OCR vision extraction, Indic multilingual translation &amp; TTS engine.</a:t>
            </a:r>
          </a:p>
          <a:p>
            <a:pPr>
              <a:spcBef>
                <a:spcPts val="800"/>
              </a:spcBef>
              <a:defRPr b="1" sz="1200">
                <a:solidFill>
                  <a:srgbClr val="FFFFFF"/>
                </a:solidFill>
              </a:defRPr>
            </a:pPr>
            <a:r>
              <a:t>• Healthcare Domain &amp; UX Researcher</a:t>
            </a:r>
          </a:p>
          <a:p>
            <a:pPr>
              <a:defRPr sz="1100">
                <a:solidFill>
                  <a:srgbClr val="CCFBF1"/>
                </a:solidFill>
              </a:defRPr>
            </a:pPr>
            <a:r>
              <a:t>ASHA worker workflows, low-literacy accessibility &amp; triage safety rules.</a:t>
            </a:r>
          </a:p>
          <a:p>
            <a:pPr>
              <a:spcBef>
                <a:spcPts val="800"/>
              </a:spcBef>
              <a:defRPr b="1" sz="1200">
                <a:solidFill>
                  <a:srgbClr val="FFFFFF"/>
                </a:solidFill>
              </a:defRPr>
            </a:pPr>
            <a:r>
              <a:t>• Mentorship &amp; Guidance</a:t>
            </a:r>
          </a:p>
          <a:p>
            <a:pPr>
              <a:defRPr sz="1100">
                <a:solidFill>
                  <a:srgbClr val="CCFBF1"/>
                </a:solidFill>
              </a:defRPr>
            </a:pPr>
            <a:r>
              <a:t>Special thanks to our technical mentors, domain advisors &amp; clinical guides.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02920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06B6D4"/>
                </a:solidFill>
              </a:defRPr>
            </a:pPr>
            <a:r>
              <a:t>🔭 Long-Term Vision &amp; Call to Action</a:t>
            </a:r>
          </a:p>
          <a:p>
            <a:pPr>
              <a:spcBef>
                <a:spcPts val="800"/>
              </a:spcBef>
              <a:defRPr b="1" sz="1200">
                <a:solidFill>
                  <a:srgbClr val="FFFFFF"/>
                </a:solidFill>
              </a:defRPr>
            </a:pPr>
            <a:r>
              <a:t>🚀 Our Mission:</a:t>
            </a:r>
          </a:p>
          <a:p>
            <a:pPr>
              <a:defRPr sz="1100">
                <a:solidFill>
                  <a:srgbClr val="CCFBF1"/>
                </a:solidFill>
              </a:defRPr>
            </a:pPr>
            <a:r>
              <a:t>Ensure that no rural citizen suffers from preventable health complications due to language barriers or lack of basic triage guidance.</a:t>
            </a:r>
          </a:p>
          <a:p>
            <a:pPr>
              <a:spcBef>
                <a:spcPts val="800"/>
              </a:spcBef>
              <a:defRPr b="1" sz="1200">
                <a:solidFill>
                  <a:srgbClr val="FFFFFF"/>
                </a:solidFill>
              </a:defRPr>
            </a:pPr>
            <a:r>
              <a:t>🔮 Upcoming Innovations:</a:t>
            </a:r>
          </a:p>
          <a:p>
            <a:pPr>
              <a:defRPr sz="1100">
                <a:solidFill>
                  <a:srgbClr val="CCFBF1"/>
                </a:solidFill>
              </a:defRPr>
            </a:pPr>
            <a:r>
              <a:t>IoT vitals monitor sync, on-device Edge AI speech models, automated GPS ambulance dispatch.</a:t>
            </a:r>
          </a:p>
          <a:p>
            <a:pPr>
              <a:spcBef>
                <a:spcPts val="800"/>
              </a:spcBef>
              <a:defRPr b="1" sz="1200">
                <a:solidFill>
                  <a:srgbClr val="FFFFFF"/>
                </a:solidFill>
              </a:defRPr>
            </a:pPr>
            <a:r>
              <a:t>🤝 Collaboration:</a:t>
            </a:r>
          </a:p>
          <a:p>
            <a:pPr>
              <a:defRPr sz="1100">
                <a:solidFill>
                  <a:srgbClr val="CCFBF1"/>
                </a:solidFill>
              </a:defRPr>
            </a:pPr>
            <a:r>
              <a:t>Seeking pilot deployment partnerships with state healthcare missions and rural health NGOs.</a:t>
            </a:r>
          </a:p>
          <a:p>
            <a:pPr>
              <a:spcBef>
                <a:spcPts val="1600"/>
              </a:spcBef>
              <a:defRPr b="1" sz="1400">
                <a:solidFill>
                  <a:srgbClr val="06B6D4"/>
                </a:solidFill>
              </a:defRPr>
            </a:pPr>
            <a:r>
              <a:t>Thank You! |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